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Bapak/Ibu dosen dan rekan-rekan sekalian. Pada kesempatan kali ini, kami dari tim pengembang yang beranggotakan saya Daffa Taufiq bersama rekan saya Mitchel akan mempresentasikan proyek Ujian Tengah Semester Praktikum Manajemen Sistem Informasi yang kami beri nama LabTrack: Integrated Campus Laboratory Circulation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Latar belakang dibangunnya sistem ini berawal dari permasalahan nyata di laboratorium kampus. Peminjaman manual menggunakan buku besar menimbulkan ketidakjelasan stok, antrean fisik di meja lab, serta risiko hilangnya data saat alat dikembalikan terlambat atau dalam kondisi rusak.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solusinya, kami merancang LabTrack dengan arsitektur dua arah. Mahasiswa memiliki portal mandiri untuk mengecek stok dan mengajukan sewa secara online, sementara Petugas Laboratorium memiliki panel admin lengkap untuk memverifikasi antrean ACC, mengelola unit fisik, hingga fungsi kasir pengembalian alat.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Dari sisi basis data, LabTrack menggunakan 6 tabel berelasi penuh dengan engine InnoDB. Hubungan antara master alat dan unit fisik kami pisahkan dalam tabel alat_unit. Hal ini memungkinkan sistem melacak secara presisi nomor seri fisik alat yang sedang berada di tangan mahasiswa.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adalah siklus peminjaman di LabTrack dari hulu ke hilir. Seluruh proses dirancang tanpa celah manual, di mana pemotongan stok hanya terjadi saat disetujui, dan kondisi alat diperiksa ketat saat pengembalian.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portal mahasiswa, mahasiswa disambut dengan katalog visual yang memuat dokumentasi foto asli instrumen lab. Mahasiswa tidak perlu menduga-duga karena jumlah unit yang benar-benar siap pakai ditampilkan secara transparan.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Saat mengajukan peminjaman, sistem memiliki fitur Live Photo Preview untuk mencegah mahasiswa salah memilih instrumen. Kami juga menyematkan validasi tanggal otomatis di frontend dan backend untuk mencegah input tanggal masa lampau.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sisi petugas lab, permohonan mahasiswa tidak langsung memotong stok, melainkan masuk ke menu Antrean ACC. Ketika tombol Setujui ditekan, algoritma backend akan memilih nomor seri unit fisik yang siap pakai secara otomatis dan mengunci mutasi data dengan aman.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keunggulan utama LabTrack: kami tidak hanya menghitung angka stok secara abstrak, tetapi melacak unit fisik aslinya melalui tabel alat_unit. Petugas lab dapat memantau kondisi dan nomor seri masing-masing unit melalui modal pop-up ini.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modul pengembalian, sistem menerapkan aturan bisnis sesuai soal UTS: keterlambatan diberikan toleransi 3 hari bebas denda, dan hari ke-4 baru dikenakan Rp 2.000 per hari. Unit yang kembali rusak dikenakan biaya perbaikan Rp 10.000 dan langsung diisolasi dari sistem peminjaman.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menjamin akuntabilitas kas laboratorium, kami menyediakan kasir terpadu dengan metode Tunai, QRIS, maupun Transfer. Apabila mahasiswa belum melunasi, akun mahasiswa tersebut secara otomatis dicekal oleh sistem hingga denda diselesaikan di meja lab.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output dokumen resmi, LabTrack menyediakan Nota Peminjaman Digital ber-barcode yang dapat dibawa mahasiswa ke meja lab, serta menu Laporan Keuangan bagi kepala laboratorium untuk memantau pendapatan denda dan kas operasional.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Seluruh logika bisnis dan keamanan aplikasi kami uji secara ketat menggunakan automated test suite. Sebanyak 59 unit dan feature test dengan 256 assertions berhasil lulus 100% tanpa ada satu pun error atau kegagalan sistem.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Kesimpulannya, LabTrack bukan sekadar aplikasi peminjaman biasa, melainkan sistem manajemen terpadu yang memadukan pelacakan fisik serial number, transparansi kasir, dan otomasi aturan bisnis lab. Sekian presentasi dari kami, waktu kami kembalikan untuk sesi tanya jawab.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6858000" cy="365760"/>
          </a:xfrm>
          <a:prstGeom prst="rect">
            <a:avLst/>
          </a:prstGeom>
          <a:noFill/>
        </p:spPr>
        <p:txBody>
          <a:bodyPr wrap="none">
            <a:spAutoFit/>
          </a:bodyPr>
          <a:lstStyle/>
          <a:p>
            <a:pPr>
              <a:defRPr sz="1100" b="1">
                <a:solidFill>
                  <a:srgbClr val="38BDF8"/>
                </a:solidFill>
                <a:latin typeface="Segoe UI"/>
              </a:defRPr>
            </a:pPr>
            <a:r>
              <a:t>UJIAN TENGAH SEMESTER (UTS) — PRAKTIKUM MANAJEMEN SISTEM INFORMASI</a:t>
            </a:r>
          </a:p>
        </p:txBody>
      </p:sp>
      <p:sp>
        <p:nvSpPr>
          <p:cNvPr id="4" name="TextBox 3"/>
          <p:cNvSpPr txBox="1"/>
          <p:nvPr/>
        </p:nvSpPr>
        <p:spPr>
          <a:xfrm>
            <a:off x="731520" y="1097280"/>
            <a:ext cx="6858000" cy="1005840"/>
          </a:xfrm>
          <a:prstGeom prst="rect">
            <a:avLst/>
          </a:prstGeom>
          <a:noFill/>
        </p:spPr>
        <p:txBody>
          <a:bodyPr wrap="none">
            <a:spAutoFit/>
          </a:bodyPr>
          <a:lstStyle/>
          <a:p>
            <a:pPr>
              <a:defRPr sz="4400" b="1">
                <a:solidFill>
                  <a:srgbClr val="F8FAFC"/>
                </a:solidFill>
                <a:latin typeface="Segoe UI"/>
              </a:defRPr>
            </a:pPr>
            <a:r>
              <a:t>LABTRACK</a:t>
            </a:r>
          </a:p>
        </p:txBody>
      </p:sp>
      <p:sp>
        <p:nvSpPr>
          <p:cNvPr id="5" name="TextBox 4"/>
          <p:cNvSpPr txBox="1"/>
          <p:nvPr/>
        </p:nvSpPr>
        <p:spPr>
          <a:xfrm>
            <a:off x="731520" y="2011680"/>
            <a:ext cx="6858000" cy="548640"/>
          </a:xfrm>
          <a:prstGeom prst="rect">
            <a:avLst/>
          </a:prstGeom>
          <a:noFill/>
        </p:spPr>
        <p:txBody>
          <a:bodyPr wrap="none">
            <a:spAutoFit/>
          </a:bodyPr>
          <a:lstStyle/>
          <a:p>
            <a:pPr>
              <a:defRPr sz="1800" b="1">
                <a:solidFill>
                  <a:srgbClr val="3B82F6"/>
                </a:solidFill>
                <a:latin typeface="Segoe UI"/>
              </a:defRPr>
            </a:pPr>
            <a:r>
              <a:t>Integrated Campus Laboratory Circulation System</a:t>
            </a:r>
          </a:p>
        </p:txBody>
      </p:sp>
      <p:sp>
        <p:nvSpPr>
          <p:cNvPr id="6" name="TextBox 5"/>
          <p:cNvSpPr txBox="1"/>
          <p:nvPr/>
        </p:nvSpPr>
        <p:spPr>
          <a:xfrm>
            <a:off x="731520" y="2651760"/>
            <a:ext cx="5303520" cy="1097280"/>
          </a:xfrm>
          <a:prstGeom prst="rect">
            <a:avLst/>
          </a:prstGeom>
          <a:noFill/>
        </p:spPr>
        <p:txBody>
          <a:bodyPr wrap="square">
            <a:spAutoFit/>
          </a:bodyPr>
          <a:lstStyle/>
          <a:p>
            <a:pPr>
              <a:defRPr sz="1150">
                <a:solidFill>
                  <a:srgbClr val="94A3B8"/>
                </a:solidFill>
                <a:latin typeface="Segoe UI"/>
              </a:defRPr>
            </a:pPr>
            <a:r>
              <a:t>Sistem Informasi Manajemen Sirkulasi Alat Laboratorium Dua Arah (Portal Mahasiswa &amp; Panel Petugas Lab) Berbasis Pelacakan Nomor Seri Unit Fisik, Verifikasi Antrean ACC, &amp; Kasir Denda Terintegrasi.</a:t>
            </a:r>
          </a:p>
        </p:txBody>
      </p:sp>
      <p:sp>
        <p:nvSpPr>
          <p:cNvPr id="7" name="Rounded Rectangle 6"/>
          <p:cNvSpPr/>
          <p:nvPr/>
        </p:nvSpPr>
        <p:spPr>
          <a:xfrm>
            <a:off x="731520" y="3931920"/>
            <a:ext cx="5303520" cy="2286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23360"/>
            <a:ext cx="4937760" cy="2103120"/>
          </a:xfrm>
          <a:prstGeom prst="rect">
            <a:avLst/>
          </a:prstGeom>
          <a:noFill/>
        </p:spPr>
        <p:txBody>
          <a:bodyPr wrap="square">
            <a:spAutoFit/>
          </a:bodyPr>
          <a:lstStyle/>
          <a:p>
            <a:pPr>
              <a:spcAft>
                <a:spcPts val="400"/>
              </a:spcAft>
            </a:pPr>
            <a:r>
              <a:rPr b="1" sz="1000">
                <a:solidFill>
                  <a:srgbClr val="38BDF8"/>
                </a:solidFill>
              </a:rPr>
              <a:t>MATA KULIAH: </a:t>
            </a:r>
            <a:r>
              <a:rPr sz="1050">
                <a:solidFill>
                  <a:srgbClr val="F8FAFC"/>
                </a:solidFill>
              </a:rPr>
              <a:t>Praktikum Manajemen Sistem Informasi (Semester 5)</a:t>
            </a:r>
          </a:p>
          <a:p>
            <a:pPr>
              <a:spcAft>
                <a:spcPts val="400"/>
              </a:spcAft>
            </a:pPr>
            <a:r>
              <a:rPr b="1" sz="1000">
                <a:solidFill>
                  <a:srgbClr val="38BDF8"/>
                </a:solidFill>
              </a:rPr>
              <a:t>STUDI KASUS: </a:t>
            </a:r>
            <a:r>
              <a:rPr sz="1050">
                <a:solidFill>
                  <a:srgbClr val="F8FAFC"/>
                </a:solidFill>
              </a:rPr>
              <a:t>Soal 1 — Sistem Peminjaman Alat Laboratorium</a:t>
            </a:r>
          </a:p>
          <a:p>
            <a:pPr>
              <a:spcAft>
                <a:spcPts val="400"/>
              </a:spcAft>
            </a:pPr>
            <a:r>
              <a:rPr b="1" sz="1000">
                <a:solidFill>
                  <a:srgbClr val="38BDF8"/>
                </a:solidFill>
              </a:rPr>
              <a:t>TIM PENGEMBANG: </a:t>
            </a:r>
            <a:r>
              <a:rPr sz="1050">
                <a:solidFill>
                  <a:srgbClr val="F8FAFC"/>
                </a:solidFill>
              </a:rPr>
              <a:t>Daffa Taufiq (Lead Developer) &amp; Mitchel (Contributor)</a:t>
            </a:r>
          </a:p>
          <a:p>
            <a:pPr>
              <a:spcAft>
                <a:spcPts val="400"/>
              </a:spcAft>
            </a:pPr>
            <a:r>
              <a:rPr b="1" sz="1000">
                <a:solidFill>
                  <a:srgbClr val="38BDF8"/>
                </a:solidFill>
              </a:rPr>
              <a:t>TEKNOLOGI: </a:t>
            </a:r>
            <a:r>
              <a:rPr sz="1050">
                <a:solidFill>
                  <a:srgbClr val="F8FAFC"/>
                </a:solidFill>
              </a:rPr>
              <a:t>Laravel 12 / PHP 8.2+ / MySQL InnoDB / Bootstrap 5.3</a:t>
            </a:r>
          </a:p>
        </p:txBody>
      </p:sp>
      <p:sp>
        <p:nvSpPr>
          <p:cNvPr id="9" name="Rounded Rectangle 8"/>
          <p:cNvSpPr/>
          <p:nvPr/>
        </p:nvSpPr>
        <p:spPr>
          <a:xfrm>
            <a:off x="6309360" y="1005840"/>
            <a:ext cx="5120640" cy="5212080"/>
          </a:xfrm>
          <a:prstGeom prst="round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_login.png"/>
          <p:cNvPicPr>
            <a:picLocks noChangeAspect="1"/>
          </p:cNvPicPr>
          <p:nvPr/>
        </p:nvPicPr>
        <p:blipFill>
          <a:blip r:embed="rId3"/>
          <a:stretch>
            <a:fillRect/>
          </a:stretch>
        </p:blipFill>
        <p:spPr>
          <a:xfrm>
            <a:off x="6400800" y="1280160"/>
            <a:ext cx="4937760" cy="2672242"/>
          </a:xfrm>
          <a:prstGeom prst="rect">
            <a:avLst/>
          </a:prstGeom>
        </p:spPr>
      </p:pic>
      <p:sp>
        <p:nvSpPr>
          <p:cNvPr id="11" name="TextBox 10"/>
          <p:cNvSpPr txBox="1"/>
          <p:nvPr/>
        </p:nvSpPr>
        <p:spPr>
          <a:xfrm>
            <a:off x="6400800" y="5760720"/>
            <a:ext cx="4937760" cy="365760"/>
          </a:xfrm>
          <a:prstGeom prst="rect">
            <a:avLst/>
          </a:prstGeom>
          <a:noFill/>
        </p:spPr>
        <p:txBody>
          <a:bodyPr wrap="none">
            <a:spAutoFit/>
          </a:bodyPr>
          <a:lstStyle/>
          <a:p>
            <a:pPr algn="ctr">
              <a:defRPr sz="1000">
                <a:solidFill>
                  <a:srgbClr val="94A3B8"/>
                </a:solidFill>
              </a:defRPr>
            </a:pPr>
            <a:r>
              <a:t>📸 Tampilan Antarmuka Login Portal LabTrack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02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Tantangan Pengelolaan Lab Konvensional</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Permasalahan sistem sirkulasi manual yang mendasari urgensi digitalisasi</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Pencatatan Manual Berisiko Tinggi
</a:t>
            </a:r>
            <a:r>
              <a:rPr sz="1000">
                <a:solidFill>
                  <a:srgbClr val="F8FAFC"/>
                </a:solidFill>
              </a:rPr>
              <a:t>  Peminjaman berbasis buku besar kertas rentan sobek, tercecer, dan tidak memiliki jejak audit trail yang dapat dipertanggungjawabkan.</a:t>
            </a:r>
          </a:p>
          <a:p>
            <a:pPr>
              <a:spcAft>
                <a:spcPts val="800"/>
              </a:spcAft>
            </a:pPr>
            <a:r>
              <a:rPr b="1" sz="1100">
                <a:solidFill>
                  <a:srgbClr val="38BDF8"/>
                </a:solidFill>
              </a:rPr>
              <a:t>• Ketidakpastian Stok Real-Time
</a:t>
            </a:r>
            <a:r>
              <a:rPr sz="1000">
                <a:solidFill>
                  <a:srgbClr val="F8FAFC"/>
                </a:solidFill>
              </a:rPr>
              <a:t>  Mahasiswa tidak dapat mengetahui apakah alat sedang siap pakai (Ready) atau masuk masa perbaikan (Rusak) sebelum datang ke laboratorium.</a:t>
            </a:r>
          </a:p>
          <a:p>
            <a:pPr>
              <a:spcAft>
                <a:spcPts val="800"/>
              </a:spcAft>
            </a:pPr>
            <a:r>
              <a:rPr b="1" sz="1100">
                <a:solidFill>
                  <a:srgbClr val="38BDF8"/>
                </a:solidFill>
              </a:rPr>
              <a:t>• Sengketa Nomor Seri Fisik
</a:t>
            </a:r>
            <a:r>
              <a:rPr sz="1000">
                <a:solidFill>
                  <a:srgbClr val="F8FAFC"/>
                </a:solidFill>
              </a:rPr>
              <a:t>  Petugas kesulitan memastikan identitas fisik instrumen spesifik mana yang dipinjam saat barang dikembalikan oleh mahasiswa.</a:t>
            </a:r>
          </a:p>
          <a:p>
            <a:pPr>
              <a:spcAft>
                <a:spcPts val="800"/>
              </a:spcAft>
            </a:pPr>
            <a:r>
              <a:rPr b="1" sz="1100">
                <a:solidFill>
                  <a:srgbClr val="38BDF8"/>
                </a:solidFill>
              </a:rPr>
              <a:t>• Kalkulasi Denda Tidak Objektif
</a:t>
            </a:r>
            <a:r>
              <a:rPr sz="1000">
                <a:solidFill>
                  <a:srgbClr val="F8FAFC"/>
                </a:solidFill>
              </a:rPr>
              <a:t>  Penghitungan denda keterlambatan dan biaya ganti rugi fisik sering menimbulkan perselisihan akibat tidak adanya sistem kasir otomatis.</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_dashboard_admin.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Dashboard Pemantauan Statistik Sirkulasi LabTrack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03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Solusi: Arsitektur Dua Sisi (Two-Sided Platform)</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Integrasi portal mahasiswa dan panel administrasi petugas lab dalam satu ekosistem</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Portal Mandiri Mahasiswa
</a:t>
            </a:r>
            <a:r>
              <a:rPr sz="1000">
                <a:solidFill>
                  <a:srgbClr val="F8FAFC"/>
                </a:solidFill>
              </a:rPr>
              <a:t>  Katalog instrumen visual berfoto studio, pengajuan sewa multi-item berjadwal dengan live preview, riwayat sirkulasi, dan nota digital ber-barcode.</a:t>
            </a:r>
          </a:p>
          <a:p>
            <a:pPr>
              <a:spcAft>
                <a:spcPts val="800"/>
              </a:spcAft>
            </a:pPr>
            <a:r>
              <a:rPr b="1" sz="1100">
                <a:solidFill>
                  <a:srgbClr val="38BDF8"/>
                </a:solidFill>
              </a:rPr>
              <a:t>• Panel Petugas Lab (Admin Desk)
</a:t>
            </a:r>
            <a:r>
              <a:rPr sz="1000">
                <a:solidFill>
                  <a:srgbClr val="F8FAFC"/>
                </a:solidFill>
              </a:rPr>
              <a:t>  Antrean persetujuan (ACC Queue) dengan Atomic Row Locking, manajemen unit fisik serial number, dan modul inspeksi pengembalian.</a:t>
            </a:r>
          </a:p>
          <a:p>
            <a:pPr>
              <a:spcAft>
                <a:spcPts val="800"/>
              </a:spcAft>
            </a:pPr>
            <a:r>
              <a:rPr b="1" sz="1100">
                <a:solidFill>
                  <a:srgbClr val="38BDF8"/>
                </a:solidFill>
              </a:rPr>
              <a:t>• Kasir Laboratorium Otomatis
</a:t>
            </a:r>
            <a:r>
              <a:rPr sz="1000">
                <a:solidFill>
                  <a:srgbClr val="F8FAFC"/>
                </a:solidFill>
              </a:rPr>
              <a:t>  Kalkulasi otomatis masa tenggang denda 3 hari, biaya kerusakan Rp10.000/unit, dan kasir multi-metode (Tunai, QRIS, Transfer).</a:t>
            </a:r>
          </a:p>
          <a:p>
            <a:pPr>
              <a:spcAft>
                <a:spcPts val="800"/>
              </a:spcAft>
            </a:pPr>
            <a:r>
              <a:rPr b="1" sz="1100">
                <a:solidFill>
                  <a:srgbClr val="38BDF8"/>
                </a:solidFill>
              </a:rPr>
              <a:t>• Pencekalan Penalti Akun
</a:t>
            </a:r>
            <a:r>
              <a:rPr sz="1000">
                <a:solidFill>
                  <a:srgbClr val="F8FAFC"/>
                </a:solidFill>
              </a:rPr>
              <a:t>  Mahasiswa yang menunggak denda secara otomatis dicekal oleh backend dari pembuatan pinjaman baru sampai dilunasi.</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_antrean_acc.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Antrean Persetujuan Peminjaman Petugas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04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Arsitektur Basis Data &amp; Skema ERD (6 Tabel)</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Normalisasi tinggi dengan integritas referensial dan pencegahan race condition</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6 Tabel Relasional Terhubung
</a:t>
            </a:r>
            <a:r>
              <a:rPr sz="1000">
                <a:solidFill>
                  <a:srgbClr val="F8FAFC"/>
                </a:solidFill>
              </a:rPr>
              <a:t>  users, mahasiswa, alat, alat_unit, peminjaman, dan detail_peminjaman pada storage engine MySQL InnoDB.</a:t>
            </a:r>
          </a:p>
          <a:p>
            <a:pPr>
              <a:spcAft>
                <a:spcPts val="800"/>
              </a:spcAft>
            </a:pPr>
            <a:r>
              <a:rPr b="1" sz="1100">
                <a:solidFill>
                  <a:srgbClr val="38BDF8"/>
                </a:solidFill>
              </a:rPr>
              <a:t>• Pemisahan Master ke Unit Fisik
</a:t>
            </a:r>
            <a:r>
              <a:rPr sz="1000">
                <a:solidFill>
                  <a:srgbClr val="F8FAFC"/>
                </a:solidFill>
              </a:rPr>
              <a:t>  Tabel 'alat_unit' memecah kuantitas stok alat menjadi instrumen individual ber-serial number dan barcode pabrik unik.</a:t>
            </a:r>
          </a:p>
          <a:p>
            <a:pPr>
              <a:spcAft>
                <a:spcPts val="800"/>
              </a:spcAft>
            </a:pPr>
            <a:r>
              <a:rPr b="1" sz="1100">
                <a:solidFill>
                  <a:srgbClr val="38BDF8"/>
                </a:solidFill>
              </a:rPr>
              <a:t>• Integritas Transaksi Atomik
</a:t>
            </a:r>
            <a:r>
              <a:rPr sz="1000">
                <a:solidFill>
                  <a:srgbClr val="F8FAFC"/>
                </a:solidFill>
              </a:rPr>
              <a:t>  Peminjaman multi-item dibungkus dalam DB::transaction() dengan row-level lock (lockForUpdate) untuk mencegah overselling stok.</a:t>
            </a:r>
          </a:p>
          <a:p>
            <a:pPr>
              <a:spcAft>
                <a:spcPts val="800"/>
              </a:spcAft>
            </a:pPr>
            <a:r>
              <a:rPr b="1" sz="1100">
                <a:solidFill>
                  <a:srgbClr val="38BDF8"/>
                </a:solidFill>
              </a:rPr>
              <a:t>• Audit Trail Komprehensif
</a:t>
            </a:r>
            <a:r>
              <a:rPr sz="1000">
                <a:solidFill>
                  <a:srgbClr val="F8FAFC"/>
                </a:solidFill>
              </a:rPr>
              <a:t>  Mencatat approved_at, tanggal jatuh tempo, tanggal kembali aktual, waktu pembayaran kasir, dan catatan kondisi teknis.</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0_erd_database.png"/>
          <p:cNvPicPr>
            <a:picLocks noChangeAspect="1"/>
          </p:cNvPicPr>
          <p:nvPr/>
        </p:nvPicPr>
        <p:blipFill>
          <a:blip r:embed="rId3"/>
          <a:stretch>
            <a:fillRect/>
          </a:stretch>
        </p:blipFill>
        <p:spPr>
          <a:xfrm>
            <a:off x="6400800" y="1920240"/>
            <a:ext cx="4846320" cy="2861130"/>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Diagram ERD 6 Tabel Relasi Basis Data LabTrack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05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Alur Bisnis Sirkulasi (End-to-End Workflow)</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Siklus peminjaman 5 tahapan dari booking mandiri hingga kasir pengembalian</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1. Booking Sewa Mandiri
</a:t>
            </a:r>
            <a:r>
              <a:rPr sz="1000">
                <a:solidFill>
                  <a:srgbClr val="F8FAFC"/>
                </a:solidFill>
              </a:rPr>
              <a:t>  Mahasiswa memilih alat &amp; rentang tanggal sewa di portal (status: menunggu_acc). Stok fisik belum dipotong.</a:t>
            </a:r>
          </a:p>
          <a:p>
            <a:pPr>
              <a:spcAft>
                <a:spcPts val="800"/>
              </a:spcAft>
            </a:pPr>
            <a:r>
              <a:rPr b="1" sz="1100">
                <a:solidFill>
                  <a:srgbClr val="38BDF8"/>
                </a:solidFill>
              </a:rPr>
              <a:t>• 2. Verifikasi Antrean ACC
</a:t>
            </a:r>
            <a:r>
              <a:rPr sz="1000">
                <a:solidFill>
                  <a:srgbClr val="F8FAFC"/>
                </a:solidFill>
              </a:rPr>
              <a:t>  Petugas memeriksa antrean ACC. Saat disetujui, nomor unit fisik dialokasikan &amp; stok berkurang secara atomik.</a:t>
            </a:r>
          </a:p>
          <a:p>
            <a:pPr>
              <a:spcAft>
                <a:spcPts val="800"/>
              </a:spcAft>
            </a:pPr>
            <a:r>
              <a:rPr b="1" sz="1100">
                <a:solidFill>
                  <a:srgbClr val="38BDF8"/>
                </a:solidFill>
              </a:rPr>
              <a:t>• 3. Serah Terima &amp; Cetak Nota
</a:t>
            </a:r>
            <a:r>
              <a:rPr sz="1000">
                <a:solidFill>
                  <a:srgbClr val="F8FAFC"/>
                </a:solidFill>
              </a:rPr>
              <a:t>  Mahasiswa membawa bukti Nota Digital ber-barcode ke meja lab untuk mengambil unit fisik resmi.</a:t>
            </a:r>
          </a:p>
          <a:p>
            <a:pPr>
              <a:spcAft>
                <a:spcPts val="800"/>
              </a:spcAft>
            </a:pPr>
            <a:r>
              <a:rPr b="1" sz="1100">
                <a:solidFill>
                  <a:srgbClr val="38BDF8"/>
                </a:solidFill>
              </a:rPr>
              <a:t>• 4. Inspeksi Pengembalian
</a:t>
            </a:r>
            <a:r>
              <a:rPr sz="1000">
                <a:solidFill>
                  <a:srgbClr val="F8FAFC"/>
                </a:solidFill>
              </a:rPr>
              <a:t>  Petugas memeriksa keterlambatan tanggal (toleransi 3 hari denda) dan inspeksi kelayakan kondisi fisik alat.</a:t>
            </a:r>
          </a:p>
          <a:p>
            <a:pPr>
              <a:spcAft>
                <a:spcPts val="800"/>
              </a:spcAft>
            </a:pPr>
            <a:r>
              <a:rPr b="1" sz="1100">
                <a:solidFill>
                  <a:srgbClr val="38BDF8"/>
                </a:solidFill>
              </a:rPr>
              <a:t>• 5. Kasir Lab &amp; Penalti
</a:t>
            </a:r>
            <a:r>
              <a:rPr sz="1000">
                <a:solidFill>
                  <a:srgbClr val="F8FAFC"/>
                </a:solidFill>
              </a:rPr>
              <a:t>  Kalkulasi otomatis denda &amp; biaya perbaikan. Mahasiswa dengan tagihan tertunggak dicekal dari pinjam baru.</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alur_sirkulasi.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Diagram 5 Tahapan Alur Sirkulasi End-to-End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06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Fitur Mahasiswa: Katalog Visual &amp; Cek Stok Ready</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Eksplorasi inventaris laboratorium dengan foto studio dan status ketersediaan</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Dokumentasi Foto Studio Asli
</a:t>
            </a:r>
            <a:r>
              <a:rPr sz="1000">
                <a:solidFill>
                  <a:srgbClr val="F8FAFC"/>
                </a:solidFill>
              </a:rPr>
              <a:t>  Setiap alat dilengkapi dengan foto beresolusi tinggi yang memudahkan mahasiswa mengenali bentuk fisik instrumen.</a:t>
            </a:r>
          </a:p>
          <a:p>
            <a:pPr>
              <a:spcAft>
                <a:spcPts val="800"/>
              </a:spcAft>
            </a:pPr>
            <a:r>
              <a:rPr b="1" sz="1100">
                <a:solidFill>
                  <a:srgbClr val="38BDF8"/>
                </a:solidFill>
              </a:rPr>
              <a:t>• Pemisahan Indikator Stok Bersih
</a:t>
            </a:r>
            <a:r>
              <a:rPr sz="1000">
                <a:solidFill>
                  <a:srgbClr val="F8FAFC"/>
                </a:solidFill>
              </a:rPr>
              <a:t>  Menampilkan stok yang benar-benar siap dipinjam (Ready) secara terpisah dari unit yang sedang dalam masa karantina rusak.</a:t>
            </a:r>
          </a:p>
          <a:p>
            <a:pPr>
              <a:spcAft>
                <a:spcPts val="800"/>
              </a:spcAft>
            </a:pPr>
            <a:r>
              <a:rPr b="1" sz="1100">
                <a:solidFill>
                  <a:srgbClr val="38BDF8"/>
                </a:solidFill>
              </a:rPr>
              <a:t>• Penyaringan Kategori Praktikum
</a:t>
            </a:r>
            <a:r>
              <a:rPr sz="1000">
                <a:solidFill>
                  <a:srgbClr val="F8FAFC"/>
                </a:solidFill>
              </a:rPr>
              <a:t>  Memudahkan pencarian instrumen berdasarkan kategori spesifik seperti Elektronika, IoT, Jaringan Komputer, dan Optik.</a:t>
            </a:r>
          </a:p>
          <a:p>
            <a:pPr>
              <a:spcAft>
                <a:spcPts val="800"/>
              </a:spcAft>
            </a:pPr>
            <a:r>
              <a:rPr b="1" sz="1100">
                <a:solidFill>
                  <a:srgbClr val="38BDF8"/>
                </a:solidFill>
              </a:rPr>
              <a:t>• Aksesibilitas Mandiri 24/7
</a:t>
            </a:r>
            <a:r>
              <a:rPr sz="1000">
                <a:solidFill>
                  <a:srgbClr val="F8FAFC"/>
                </a:solidFill>
              </a:rPr>
              <a:t>  Mahasiswa dapat memeriksa ketersediaan alat kapan pun langsung dari ponsel atau laptop tanpa harus datang ke gedung lab.</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2_katalog_mahasiswa.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Katalog Visual Instrumen Lab pada Portal Mahasiswa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07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Fitur Mahasiswa: Form Pengajuan Multi-Item</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Formulir cerdas dengan live preview foto instrumen dan pencegahan input keliru</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Live Photo Thumbnail Preview
</a:t>
            </a:r>
            <a:r>
              <a:rPr sz="1000">
                <a:solidFill>
                  <a:srgbClr val="F8FAFC"/>
                </a:solidFill>
              </a:rPr>
              <a:t>  Thumbnail foto instrumen berganti secara dinamis begitu nama alat dipilih pada menu dropdown, mencegah salah ambil alat.</a:t>
            </a:r>
          </a:p>
          <a:p>
            <a:pPr>
              <a:spcAft>
                <a:spcPts val="800"/>
              </a:spcAft>
            </a:pPr>
            <a:r>
              <a:rPr b="1" sz="1100">
                <a:solidFill>
                  <a:srgbClr val="38BDF8"/>
                </a:solidFill>
              </a:rPr>
              <a:t>• Pencegahan Tanggal Masa Lalu
</a:t>
            </a:r>
            <a:r>
              <a:rPr sz="1000">
                <a:solidFill>
                  <a:srgbClr val="F8FAFC"/>
                </a:solidFill>
              </a:rPr>
              <a:t>  Sistem memvalidasi tanggal pinjam tidak boleh sebelum hari ini dan tanggal jatuh tempo harus setelah tanggal pinjam.</a:t>
            </a:r>
          </a:p>
          <a:p>
            <a:pPr>
              <a:spcAft>
                <a:spcPts val="800"/>
              </a:spcAft>
            </a:pPr>
            <a:r>
              <a:rPr b="1" sz="1100">
                <a:solidFill>
                  <a:srgbClr val="38BDF8"/>
                </a:solidFill>
              </a:rPr>
              <a:t>• Kalkulator Durasi Otomatis
</a:t>
            </a:r>
            <a:r>
              <a:rPr sz="1000">
                <a:solidFill>
                  <a:srgbClr val="F8FAFC"/>
                </a:solidFill>
              </a:rPr>
              <a:t>  Sistem menghitung total durasi hari sewa secara otomatis untuk acuan masa pinjam mahasiswa.</a:t>
            </a:r>
          </a:p>
          <a:p>
            <a:pPr>
              <a:spcAft>
                <a:spcPts val="800"/>
              </a:spcAft>
            </a:pPr>
            <a:r>
              <a:rPr b="1" sz="1100">
                <a:solidFill>
                  <a:srgbClr val="38BDF8"/>
                </a:solidFill>
              </a:rPr>
              <a:t>• Multi-Item dengan Batas Kuota
</a:t>
            </a:r>
            <a:r>
              <a:rPr sz="1000">
                <a:solidFill>
                  <a:srgbClr val="F8FAFC"/>
                </a:solidFill>
              </a:rPr>
              <a:t>  Mendukung pemilihan beberapa jenis alat sekaligus dalam 1 transaksi dengan batas aman maksimal 10 unit instrumen.</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_ajukan_pinjam.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Formulir Booking Sewa Alat dengan Live Thumbnail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08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Fitur Admin: Antrean Persetujuan (ACC Queue)</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Sentralisasi verifikasi permohonan pinjam dengan penguncian data aman</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Stok Belum Berkurang Sebelum ACC
</a:t>
            </a:r>
            <a:r>
              <a:rPr sz="1000">
                <a:solidFill>
                  <a:srgbClr val="F8FAFC"/>
                </a:solidFill>
              </a:rPr>
              <a:t>  Pengajuan baru berstatus 'menunggu_acc' tidak langsung memotong stok di rak, mencegah inventaris terkunci oleh pesanan fiktif.</a:t>
            </a:r>
          </a:p>
          <a:p>
            <a:pPr>
              <a:spcAft>
                <a:spcPts val="800"/>
              </a:spcAft>
            </a:pPr>
            <a:r>
              <a:rPr b="1" sz="1100">
                <a:solidFill>
                  <a:srgbClr val="38BDF8"/>
                </a:solidFill>
              </a:rPr>
              <a:t>• Aksi Setujui [ACC] Terotomasi
</a:t>
            </a:r>
            <a:r>
              <a:rPr sz="1000">
                <a:solidFill>
                  <a:srgbClr val="F8FAFC"/>
                </a:solidFill>
              </a:rPr>
              <a:t>  Backend memilih unit fisik 'tersedia' pada tabel alat_unit, mencatat kode unit di nota, dan memotong stok_tersedia secara atomik.</a:t>
            </a:r>
          </a:p>
          <a:p>
            <a:pPr>
              <a:spcAft>
                <a:spcPts val="800"/>
              </a:spcAft>
            </a:pPr>
            <a:r>
              <a:rPr b="1" sz="1100">
                <a:solidFill>
                  <a:srgbClr val="38BDF8"/>
                </a:solidFill>
              </a:rPr>
              <a:t>• Aksi Tolak Berita Acara
</a:t>
            </a:r>
            <a:r>
              <a:rPr sz="1000">
                <a:solidFill>
                  <a:srgbClr val="F8FAFC"/>
                </a:solidFill>
              </a:rPr>
              <a:t>  Admin dapat menolak pengajuan yang tidak memenuhi syarat disertai alasan jelas yang langsung terbaca oleh mahasiswa.</a:t>
            </a:r>
          </a:p>
          <a:p>
            <a:pPr>
              <a:spcAft>
                <a:spcPts val="800"/>
              </a:spcAft>
            </a:pPr>
            <a:r>
              <a:rPr b="1" sz="1100">
                <a:solidFill>
                  <a:srgbClr val="38BDF8"/>
                </a:solidFill>
              </a:rPr>
              <a:t>• Proteksi Balapan Data (Race Condition)
</a:t>
            </a:r>
            <a:r>
              <a:rPr sz="1000">
                <a:solidFill>
                  <a:srgbClr val="F8FAFC"/>
                </a:solidFill>
              </a:rPr>
              <a:t>  Menggunakan Row-Level Locking saat eksekusi tombol ACC sehingga aman dari persaingan pesanan bersamaan.</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_antrean_acc.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Antrean Verifikasi ACC Permohonan Pinjam Mahasiswa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09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Fitur Admin: Master Alat &amp; Pelacakan Unit Fisik</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Pelacakan unit fisik individual berbasis Serial Number dan Barcode pabrik</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Upload Dokumentasi Foto Alat
</a:t>
            </a:r>
            <a:r>
              <a:rPr sz="1000">
                <a:solidFill>
                  <a:srgbClr val="F8FAFC"/>
                </a:solidFill>
              </a:rPr>
              <a:t>  Admin dapat mengunggah file foto JPG/PNG untuk katalog publik yang tersimpan di direktori server publik.</a:t>
            </a:r>
          </a:p>
          <a:p>
            <a:pPr>
              <a:spcAft>
                <a:spcPts val="800"/>
              </a:spcAft>
            </a:pPr>
            <a:r>
              <a:rPr b="1" sz="1100">
                <a:solidFill>
                  <a:srgbClr val="38BDF8"/>
                </a:solidFill>
              </a:rPr>
              <a:t>• Generasi Otomatis Unit Fisik
</a:t>
            </a:r>
            <a:r>
              <a:rPr sz="1000">
                <a:solidFill>
                  <a:srgbClr val="F8FAFC"/>
                </a:solidFill>
              </a:rPr>
              <a:t>  Saat alat ditambahkan dengan stok 3, sistem secara otomatis menerbitkan 3 baris data alat_unit (U01-U03).</a:t>
            </a:r>
          </a:p>
          <a:p>
            <a:pPr>
              <a:spcAft>
                <a:spcPts val="800"/>
              </a:spcAft>
            </a:pPr>
            <a:r>
              <a:rPr b="1" sz="1100">
                <a:solidFill>
                  <a:srgbClr val="38BDF8"/>
                </a:solidFill>
              </a:rPr>
              <a:t>• Modal Pop-up Unit Fisik
</a:t>
            </a:r>
            <a:r>
              <a:rPr sz="1000">
                <a:solidFill>
                  <a:srgbClr val="F8FAFC"/>
                </a:solidFill>
              </a:rPr>
              <a:t>  Petugas dapat mengklik tombol barcode [Unit] untuk memantau status fisik individual tiap unit dalam pop-up modal.</a:t>
            </a:r>
          </a:p>
          <a:p>
            <a:pPr>
              <a:spcAft>
                <a:spcPts val="800"/>
              </a:spcAft>
            </a:pPr>
            <a:r>
              <a:rPr b="1" sz="1100">
                <a:solidFill>
                  <a:srgbClr val="38BDF8"/>
                </a:solidFill>
              </a:rPr>
              <a:t>• Status Granular Tiap Unit
</a:t>
            </a:r>
            <a:r>
              <a:rPr sz="1000">
                <a:solidFill>
                  <a:srgbClr val="F8FAFC"/>
                </a:solidFill>
              </a:rPr>
              <a:t>  Masing-masing unit terpantau statusnya secara presisi: Tersedia, Dipinjam, Rusak, atau Maintenance.</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9_modal_unit_fisik.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Modal Pop-Up Pelacakan Unit Fisik (Serial Number &amp; Barcode)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10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Fitur Admin: Form Pengembalian &amp; Kalkulasi Denda</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Implementasi aturan bisnis studi kasus UTS: toleransi keterlambatan &amp; ganti rugi</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Aturan Denda Toleransi 3 Hari
</a:t>
            </a:r>
            <a:r>
              <a:rPr sz="1000">
                <a:solidFill>
                  <a:srgbClr val="F8FAFC"/>
                </a:solidFill>
              </a:rPr>
              <a:t>  Sesuai rubrik UTS: Hari Kena Denda = max(0, Terlambat - 3). Denda = Hari Kena Denda x Rp 2.000. Masa tenggang 3 hari = Rp 0.</a:t>
            </a:r>
          </a:p>
          <a:p>
            <a:pPr>
              <a:spcAft>
                <a:spcPts val="800"/>
              </a:spcAft>
            </a:pPr>
            <a:r>
              <a:rPr b="1" sz="1100">
                <a:solidFill>
                  <a:srgbClr val="38BDF8"/>
                </a:solidFill>
              </a:rPr>
              <a:t>• Biaya Ganti Rugi Kerusakan Fisik
</a:t>
            </a:r>
            <a:r>
              <a:rPr sz="1000">
                <a:solidFill>
                  <a:srgbClr val="F8FAFC"/>
                </a:solidFill>
              </a:rPr>
              <a:t>  Jika unit dikembalikan dalam kondisi cacat/rusak, sistem mengenakan biaya perbaikan Rp 10.000 per unit rusak.</a:t>
            </a:r>
          </a:p>
          <a:p>
            <a:pPr>
              <a:spcAft>
                <a:spcPts val="800"/>
              </a:spcAft>
            </a:pPr>
            <a:r>
              <a:rPr b="1" sz="1100">
                <a:solidFill>
                  <a:srgbClr val="38BDF8"/>
                </a:solidFill>
              </a:rPr>
              <a:t>• Karantina &amp; Isolasi Unit Rusak
</a:t>
            </a:r>
            <a:r>
              <a:rPr sz="1000">
                <a:solidFill>
                  <a:srgbClr val="F8FAFC"/>
                </a:solidFill>
              </a:rPr>
              <a:t>  Unit yang rusak otomatis dipindahkan ke stok_rusak dan ditandai rusak di tabel alat_unit sehingga tidak bisa dipinjam lagi.</a:t>
            </a:r>
          </a:p>
          <a:p>
            <a:pPr>
              <a:spcAft>
                <a:spcPts val="800"/>
              </a:spcAft>
            </a:pPr>
            <a:r>
              <a:rPr b="1" sz="1100">
                <a:solidFill>
                  <a:srgbClr val="38BDF8"/>
                </a:solidFill>
              </a:rPr>
              <a:t>• Pemulihan Stok Unit Sehat
</a:t>
            </a:r>
            <a:r>
              <a:rPr sz="1000">
                <a:solidFill>
                  <a:srgbClr val="F8FAFC"/>
                </a:solidFill>
              </a:rPr>
              <a:t>  Unit yang kembali dalam kondisi baik dikembalikan seketika ke rak stok_tersedia.</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1_form_kasir_pengembalian.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Form Kasir Pengembalian dengan Kalkulator Denda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11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Kasir Lab &amp; Sistem Pencekalan Penalti Mahasiswa</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Penyelesaian kas denda serta proteksi penalti pinjaman baru</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Multi-Pilihan Pembayaran Kasir
</a:t>
            </a:r>
            <a:r>
              <a:rPr sz="1000">
                <a:solidFill>
                  <a:srgbClr val="F8FAFC"/>
                </a:solidFill>
              </a:rPr>
              <a:t>  Mendukung pembayaran langsung di meja lab via Tunai, QRIS Laboratorium, maupun Transfer Bank.</a:t>
            </a:r>
          </a:p>
          <a:p>
            <a:pPr>
              <a:spcAft>
                <a:spcPts val="800"/>
              </a:spcAft>
            </a:pPr>
            <a:r>
              <a:rPr b="1" sz="1100">
                <a:solidFill>
                  <a:srgbClr val="38BDF8"/>
                </a:solidFill>
              </a:rPr>
              <a:t>• Sistem Tagihan Tertunggak
</a:t>
            </a:r>
            <a:r>
              <a:rPr sz="1000">
                <a:solidFill>
                  <a:srgbClr val="F8FAFC"/>
                </a:solidFill>
              </a:rPr>
              <a:t>  Jika mahasiswa belum memiliki dana saat pengembalian, transaksi disimpan dengan status 'belum_lunas'.</a:t>
            </a:r>
          </a:p>
          <a:p>
            <a:pPr>
              <a:spcAft>
                <a:spcPts val="800"/>
              </a:spcAft>
            </a:pPr>
            <a:r>
              <a:rPr b="1" sz="1100">
                <a:solidFill>
                  <a:srgbClr val="38BDF8"/>
                </a:solidFill>
              </a:rPr>
              <a:t>• Pencekalan Otomatis oleh Backend
</a:t>
            </a:r>
            <a:r>
              <a:rPr sz="1000">
                <a:solidFill>
                  <a:srgbClr val="F8FAFC"/>
                </a:solidFill>
              </a:rPr>
              <a:t>  Mahasiswa yang berstatus belum lunas diblokir otomatis dari membuat pengajuan baru hingga tagihannya lunas.</a:t>
            </a:r>
          </a:p>
          <a:p>
            <a:pPr>
              <a:spcAft>
                <a:spcPts val="800"/>
              </a:spcAft>
            </a:pPr>
            <a:r>
              <a:rPr b="1" sz="1100">
                <a:solidFill>
                  <a:srgbClr val="38BDF8"/>
                </a:solidFill>
              </a:rPr>
              <a:t>• Pelunasan Satu Klik di Meja Lab
</a:t>
            </a:r>
            <a:r>
              <a:rPr sz="1000">
                <a:solidFill>
                  <a:srgbClr val="F8FAFC"/>
                </a:solidFill>
              </a:rPr>
              <a:t>  Admin dapat mengonfirmasi pelunasan di halaman detail; sistem mencatat waktu lunas dan seketika membuka blokir mahasiswa.</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0_pengembalian_list.png"/>
          <p:cNvPicPr>
            <a:picLocks noChangeAspect="1"/>
          </p:cNvPicPr>
          <p:nvPr/>
        </p:nvPicPr>
        <p:blipFill>
          <a:blip r:embed="rId3"/>
          <a:stretch>
            <a:fillRect/>
          </a:stretch>
        </p:blipFill>
        <p:spPr>
          <a:xfrm>
            <a:off x="6400800" y="1920240"/>
            <a:ext cx="4846320" cy="2622756"/>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Daftar Monitoring Status Pengembalian &amp; Pelunasan Kasir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12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Bukti Transaksi: Nota Digital &amp; Rekap Laporan</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Dokumen resmi laboratorium untuk serah terima fisik dan audit pimpinan</a:t>
            </a:r>
          </a:p>
        </p:txBody>
      </p:sp>
      <p:sp>
        <p:nvSpPr>
          <p:cNvPr id="7" name="Rounded Rectangle 6"/>
          <p:cNvSpPr/>
          <p:nvPr/>
        </p:nvSpPr>
        <p:spPr>
          <a:xfrm>
            <a:off x="731520" y="1737360"/>
            <a:ext cx="47548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389120" cy="4389120"/>
          </a:xfrm>
          <a:prstGeom prst="rect">
            <a:avLst/>
          </a:prstGeom>
          <a:noFill/>
        </p:spPr>
        <p:txBody>
          <a:bodyPr wrap="square">
            <a:spAutoFit/>
          </a:bodyPr>
          <a:lstStyle/>
          <a:p>
            <a:pPr>
              <a:spcAft>
                <a:spcPts val="800"/>
              </a:spcAft>
            </a:pPr>
            <a:r>
              <a:rPr b="1" sz="1100">
                <a:solidFill>
                  <a:srgbClr val="38BDF8"/>
                </a:solidFill>
              </a:rPr>
              <a:t>• Nota Peminjaman Ber-Barcode Resmi
</a:t>
            </a:r>
            <a:r>
              <a:rPr sz="950">
                <a:solidFill>
                  <a:srgbClr val="F8FAFC"/>
                </a:solidFill>
              </a:rPr>
              <a:t>  Memuat barcode unik, foto instrumen, identitas mahasiswa, rentang tanggal, serta kode unit fisik resmi yang diserahkan.</a:t>
            </a:r>
          </a:p>
          <a:p>
            <a:pPr>
              <a:spcAft>
                <a:spcPts val="800"/>
              </a:spcAft>
            </a:pPr>
            <a:r>
              <a:rPr b="1" sz="1100">
                <a:solidFill>
                  <a:srgbClr val="38BDF8"/>
                </a:solidFill>
              </a:rPr>
              <a:t>• Tiket Fisik Meja Laboratorium
</a:t>
            </a:r>
            <a:r>
              <a:rPr sz="950">
                <a:solidFill>
                  <a:srgbClr val="F8FAFC"/>
                </a:solidFill>
              </a:rPr>
              <a:t>  Mahasiswa membawa nota cetak digital ini sebagai bukti sah pengambilan instrumen di laboratorium.</a:t>
            </a:r>
          </a:p>
          <a:p>
            <a:pPr>
              <a:spcAft>
                <a:spcPts val="800"/>
              </a:spcAft>
            </a:pPr>
            <a:r>
              <a:rPr b="1" sz="1100">
                <a:solidFill>
                  <a:srgbClr val="38BDF8"/>
                </a:solidFill>
              </a:rPr>
              <a:t>• Rekapitulasi Laporan Keuangan
</a:t>
            </a:r>
            <a:r>
              <a:rPr sz="950">
                <a:solidFill>
                  <a:srgbClr val="F8FAFC"/>
                </a:solidFill>
              </a:rPr>
              <a:t>  Menghitung akumulasi total transaksi, total denda terhimpun, dan biaya ganti rugi kerusakan alat.</a:t>
            </a:r>
          </a:p>
          <a:p>
            <a:pPr>
              <a:spcAft>
                <a:spcPts val="800"/>
              </a:spcAft>
            </a:pPr>
            <a:r>
              <a:rPr b="1" sz="1100">
                <a:solidFill>
                  <a:srgbClr val="38BDF8"/>
                </a:solidFill>
              </a:rPr>
              <a:t>• Clean Print Layout Resmi
</a:t>
            </a:r>
            <a:r>
              <a:rPr sz="950">
                <a:solidFill>
                  <a:srgbClr val="F8FAFC"/>
                </a:solidFill>
              </a:rPr>
              <a:t>  Format laporan ramah kertas (clean print) untuk keperluan arsip fisik pimpinan laboratorium.</a:t>
            </a:r>
          </a:p>
        </p:txBody>
      </p:sp>
      <p:sp>
        <p:nvSpPr>
          <p:cNvPr id="9" name="Rounded Rectangle 8"/>
          <p:cNvSpPr/>
          <p:nvPr/>
        </p:nvSpPr>
        <p:spPr>
          <a:xfrm>
            <a:off x="5760720" y="1737360"/>
            <a:ext cx="5669280" cy="2240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nota_digital.png"/>
          <p:cNvPicPr>
            <a:picLocks noChangeAspect="1"/>
          </p:cNvPicPr>
          <p:nvPr/>
        </p:nvPicPr>
        <p:blipFill>
          <a:blip r:embed="rId3"/>
          <a:stretch>
            <a:fillRect/>
          </a:stretch>
        </p:blipFill>
        <p:spPr>
          <a:xfrm>
            <a:off x="5897880" y="1828800"/>
            <a:ext cx="3017520" cy="1633036"/>
          </a:xfrm>
          <a:prstGeom prst="rect">
            <a:avLst/>
          </a:prstGeom>
        </p:spPr>
      </p:pic>
      <p:sp>
        <p:nvSpPr>
          <p:cNvPr id="11" name="TextBox 10"/>
          <p:cNvSpPr txBox="1"/>
          <p:nvPr/>
        </p:nvSpPr>
        <p:spPr>
          <a:xfrm>
            <a:off x="9052560" y="1828800"/>
            <a:ext cx="2286000" cy="2011680"/>
          </a:xfrm>
          <a:prstGeom prst="rect">
            <a:avLst/>
          </a:prstGeom>
          <a:noFill/>
        </p:spPr>
        <p:txBody>
          <a:bodyPr wrap="square">
            <a:spAutoFit/>
          </a:bodyPr>
          <a:lstStyle/>
          <a:p>
            <a:pPr>
              <a:defRPr b="1" sz="1050">
                <a:solidFill>
                  <a:srgbClr val="10B981"/>
                </a:solidFill>
              </a:defRPr>
            </a:pPr>
            <a:r>
              <a:t>1. Nota Digital Ber-Barcode</a:t>
            </a:r>
          </a:p>
          <a:p>
            <a:pPr>
              <a:defRPr sz="900">
                <a:solidFill>
                  <a:srgbClr val="94A3B8"/>
                </a:solidFill>
              </a:defRPr>
            </a:pPr>
            <a:r>
              <a:t>Dilengkapi barcode unik, rincian tanggal, foto instrumen, dan nomor seri fisik unit resmi.</a:t>
            </a:r>
          </a:p>
        </p:txBody>
      </p:sp>
      <p:sp>
        <p:nvSpPr>
          <p:cNvPr id="12" name="Rounded Rectangle 11"/>
          <p:cNvSpPr/>
          <p:nvPr/>
        </p:nvSpPr>
        <p:spPr>
          <a:xfrm>
            <a:off x="5760720" y="4160520"/>
            <a:ext cx="5669280" cy="2240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12_laporan_keuangan.png"/>
          <p:cNvPicPr>
            <a:picLocks noChangeAspect="1"/>
          </p:cNvPicPr>
          <p:nvPr/>
        </p:nvPicPr>
        <p:blipFill>
          <a:blip r:embed="rId4"/>
          <a:stretch>
            <a:fillRect/>
          </a:stretch>
        </p:blipFill>
        <p:spPr>
          <a:xfrm>
            <a:off x="5897880" y="4251960"/>
            <a:ext cx="3017520" cy="1633036"/>
          </a:xfrm>
          <a:prstGeom prst="rect">
            <a:avLst/>
          </a:prstGeom>
        </p:spPr>
      </p:pic>
      <p:sp>
        <p:nvSpPr>
          <p:cNvPr id="14" name="TextBox 13"/>
          <p:cNvSpPr txBox="1"/>
          <p:nvPr/>
        </p:nvSpPr>
        <p:spPr>
          <a:xfrm>
            <a:off x="9052560" y="4251960"/>
            <a:ext cx="2286000" cy="2011680"/>
          </a:xfrm>
          <a:prstGeom prst="rect">
            <a:avLst/>
          </a:prstGeom>
          <a:noFill/>
        </p:spPr>
        <p:txBody>
          <a:bodyPr wrap="square">
            <a:spAutoFit/>
          </a:bodyPr>
          <a:lstStyle/>
          <a:p>
            <a:pPr>
              <a:defRPr b="1" sz="1050">
                <a:solidFill>
                  <a:srgbClr val="F59E0B"/>
                </a:solidFill>
              </a:defRPr>
            </a:pPr>
            <a:r>
              <a:t>2. Laporan Rekapitulasi Lab</a:t>
            </a:r>
          </a:p>
          <a:p>
            <a:pPr>
              <a:defRPr sz="900">
                <a:solidFill>
                  <a:srgbClr val="94A3B8"/>
                </a:solidFill>
              </a:defRPr>
            </a:pPr>
            <a:r>
              <a:t>Menghitung total kas denda keterlambatan, biaya ganti rugi fisik, dan rekap sirkulasi.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13 / 14</a:t>
            </a:r>
          </a:p>
        </p:txBody>
      </p:sp>
      <p:sp>
        <p:nvSpPr>
          <p:cNvPr id="5" name="TextBox 4"/>
          <p:cNvSpPr txBox="1"/>
          <p:nvPr/>
        </p:nvSpPr>
        <p:spPr>
          <a:xfrm>
            <a:off x="731520" y="731520"/>
            <a:ext cx="10515600" cy="548640"/>
          </a:xfrm>
          <a:prstGeom prst="rect">
            <a:avLst/>
          </a:prstGeom>
          <a:noFill/>
        </p:spPr>
        <p:txBody>
          <a:bodyPr wrap="none">
            <a:spAutoFit/>
          </a:bodyPr>
          <a:lstStyle/>
          <a:p>
            <a:pPr>
              <a:defRPr sz="2600" b="1">
                <a:solidFill>
                  <a:srgbClr val="F8FAFC"/>
                </a:solidFill>
                <a:latin typeface="Segoe UI"/>
              </a:defRPr>
            </a:pPr>
            <a:r>
              <a:t>Hasil Pengujian Otomatis (59 Tests — 100% Pass)</a:t>
            </a:r>
          </a:p>
        </p:txBody>
      </p:sp>
      <p:sp>
        <p:nvSpPr>
          <p:cNvPr id="6" name="TextBox 5"/>
          <p:cNvSpPr txBox="1"/>
          <p:nvPr/>
        </p:nvSpPr>
        <p:spPr>
          <a:xfrm>
            <a:off x="731520" y="1280160"/>
            <a:ext cx="10515600" cy="365760"/>
          </a:xfrm>
          <a:prstGeom prst="rect">
            <a:avLst/>
          </a:prstGeom>
          <a:noFill/>
        </p:spPr>
        <p:txBody>
          <a:bodyPr wrap="none">
            <a:spAutoFit/>
          </a:bodyPr>
          <a:lstStyle/>
          <a:p>
            <a:pPr>
              <a:defRPr sz="1250">
                <a:solidFill>
                  <a:srgbClr val="38BDF8"/>
                </a:solidFill>
                <a:latin typeface="Segoe UI"/>
              </a:defRPr>
            </a:pPr>
            <a:r>
              <a:t>Verifikasi komprehensif seluruh logika bisnis dan integritas keamanan</a:t>
            </a:r>
          </a:p>
        </p:txBody>
      </p:sp>
      <p:sp>
        <p:nvSpPr>
          <p:cNvPr id="7" name="Rounded Rectangle 6"/>
          <p:cNvSpPr/>
          <p:nvPr/>
        </p:nvSpPr>
        <p:spPr>
          <a:xfrm>
            <a:off x="731520" y="1737360"/>
            <a:ext cx="530352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937760" cy="4389120"/>
          </a:xfrm>
          <a:prstGeom prst="rect">
            <a:avLst/>
          </a:prstGeom>
          <a:noFill/>
        </p:spPr>
        <p:txBody>
          <a:bodyPr wrap="square">
            <a:spAutoFit/>
          </a:bodyPr>
          <a:lstStyle/>
          <a:p>
            <a:pPr>
              <a:spcAft>
                <a:spcPts val="800"/>
              </a:spcAft>
            </a:pPr>
            <a:r>
              <a:rPr b="1" sz="1100">
                <a:solidFill>
                  <a:srgbClr val="38BDF8"/>
                </a:solidFill>
              </a:rPr>
              <a:t>• Automated Test Suite (PHPUnit)
</a:t>
            </a:r>
            <a:r>
              <a:rPr sz="1000">
                <a:solidFill>
                  <a:srgbClr val="F8FAFC"/>
                </a:solidFill>
              </a:rPr>
              <a:t>  59 Unit &amp; Feature Tests dengan 256 Assertions lolos 100% tanpa kegagalan (0 error, 0 fail).</a:t>
            </a:r>
          </a:p>
          <a:p>
            <a:pPr>
              <a:spcAft>
                <a:spcPts val="800"/>
              </a:spcAft>
            </a:pPr>
            <a:r>
              <a:rPr b="1" sz="1100">
                <a:solidFill>
                  <a:srgbClr val="38BDF8"/>
                </a:solidFill>
              </a:rPr>
              <a:t>• Cakupan Uji Logika Bisnis
</a:t>
            </a:r>
            <a:r>
              <a:rPr sz="1000">
                <a:solidFill>
                  <a:srgbClr val="F8FAFC"/>
                </a:solidFill>
              </a:rPr>
              <a:t>  Pengujian mencakup: Alokasi unit fisik, upload foto, validasi rentang tanggal, pemotongan stok atomik, dan pembatalan sewa.</a:t>
            </a:r>
          </a:p>
          <a:p>
            <a:pPr>
              <a:spcAft>
                <a:spcPts val="800"/>
              </a:spcAft>
            </a:pPr>
            <a:r>
              <a:rPr b="1" sz="1100">
                <a:solidFill>
                  <a:srgbClr val="38BDF8"/>
                </a:solidFill>
              </a:rPr>
              <a:t>• Pengujian Kasir &amp; Denda
</a:t>
            </a:r>
            <a:r>
              <a:rPr sz="1000">
                <a:solidFill>
                  <a:srgbClr val="F8FAFC"/>
                </a:solidFill>
              </a:rPr>
              <a:t>  Memvalidasi denda toleransi 3 hari, denda terlambat 5 hari (Rp4.000), denda rusak (Rp10.000), dan blokir denda tertunggak.</a:t>
            </a:r>
          </a:p>
          <a:p>
            <a:pPr>
              <a:spcAft>
                <a:spcPts val="800"/>
              </a:spcAft>
            </a:pPr>
            <a:r>
              <a:rPr b="1" sz="1100">
                <a:solidFill>
                  <a:srgbClr val="38BDF8"/>
                </a:solidFill>
              </a:rPr>
              <a:t>• Ketahanan Sesi Stabil
</a:t>
            </a:r>
            <a:r>
              <a:rPr sz="1000">
                <a:solidFill>
                  <a:srgbClr val="F8FAFC"/>
                </a:solidFill>
              </a:rPr>
              <a:t>  Eliminasi error 419 (Page Expired) menggunakan driver session file dan penanganan graceful exception.</a:t>
            </a:r>
          </a:p>
        </p:txBody>
      </p:sp>
      <p:sp>
        <p:nvSpPr>
          <p:cNvPr id="9" name="Rounded Rectangle 8"/>
          <p:cNvSpPr/>
          <p:nvPr/>
        </p:nvSpPr>
        <p:spPr>
          <a:xfrm>
            <a:off x="6217920" y="1737360"/>
            <a:ext cx="5212080"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3_terminal_test.png"/>
          <p:cNvPicPr>
            <a:picLocks noChangeAspect="1"/>
          </p:cNvPicPr>
          <p:nvPr/>
        </p:nvPicPr>
        <p:blipFill>
          <a:blip r:embed="rId3"/>
          <a:stretch>
            <a:fillRect/>
          </a:stretch>
        </p:blipFill>
        <p:spPr>
          <a:xfrm>
            <a:off x="6400800" y="1920240"/>
            <a:ext cx="4846320" cy="2861130"/>
          </a:xfrm>
          <a:prstGeom prst="rect">
            <a:avLst/>
          </a:prstGeom>
        </p:spPr>
      </p:pic>
      <p:sp>
        <p:nvSpPr>
          <p:cNvPr id="11" name="TextBox 10"/>
          <p:cNvSpPr txBox="1"/>
          <p:nvPr/>
        </p:nvSpPr>
        <p:spPr>
          <a:xfrm>
            <a:off x="6400800" y="5897880"/>
            <a:ext cx="4846320" cy="365760"/>
          </a:xfrm>
          <a:prstGeom prst="rect">
            <a:avLst/>
          </a:prstGeom>
          <a:noFill/>
        </p:spPr>
        <p:txBody>
          <a:bodyPr wrap="none">
            <a:spAutoFit/>
          </a:bodyPr>
          <a:lstStyle/>
          <a:p>
            <a:pPr algn="ctr">
              <a:defRPr sz="950">
                <a:solidFill>
                  <a:srgbClr val="94A3B8"/>
                </a:solidFill>
              </a:defRPr>
            </a:pPr>
            <a:r>
              <a:t>📸 Eksekusi Automated Tests Suite (59 Passed, 256 Assertions)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365760"/>
          </a:xfrm>
          <a:prstGeom prst="rect">
            <a:avLst/>
          </a:prstGeom>
          <a:noFill/>
        </p:spPr>
        <p:txBody>
          <a:bodyPr wrap="none">
            <a:spAutoFit/>
          </a:bodyPr>
          <a:lstStyle/>
          <a:p>
            <a:pPr>
              <a:defRPr sz="1000" b="1">
                <a:solidFill>
                  <a:srgbClr val="38BDF8"/>
                </a:solidFill>
                <a:latin typeface="Segoe UI"/>
              </a:defRPr>
            </a:pPr>
            <a:r>
              <a:t>LABTRACK — SISTEM PEMINJAMAN ALAT LABORATORIUM</a:t>
            </a:r>
          </a:p>
        </p:txBody>
      </p:sp>
      <p:sp>
        <p:nvSpPr>
          <p:cNvPr id="4" name="TextBox 3"/>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14 / 14</a:t>
            </a:r>
          </a:p>
        </p:txBody>
      </p:sp>
      <p:sp>
        <p:nvSpPr>
          <p:cNvPr id="5" name="TextBox 4"/>
          <p:cNvSpPr txBox="1"/>
          <p:nvPr/>
        </p:nvSpPr>
        <p:spPr>
          <a:xfrm>
            <a:off x="731520" y="731520"/>
            <a:ext cx="10515600" cy="640080"/>
          </a:xfrm>
          <a:prstGeom prst="rect">
            <a:avLst/>
          </a:prstGeom>
          <a:noFill/>
        </p:spPr>
        <p:txBody>
          <a:bodyPr wrap="none">
            <a:spAutoFit/>
          </a:bodyPr>
          <a:lstStyle/>
          <a:p>
            <a:pPr>
              <a:defRPr sz="2800" b="1">
                <a:solidFill>
                  <a:srgbClr val="F8FAFC"/>
                </a:solidFill>
                <a:latin typeface="Segoe UI"/>
              </a:defRPr>
            </a:pPr>
            <a:r>
              <a:t>Kesimpulan &amp; Sesi Tanya Jawab (Q&amp;A)</a:t>
            </a:r>
          </a:p>
        </p:txBody>
      </p:sp>
      <p:sp>
        <p:nvSpPr>
          <p:cNvPr id="6" name="TextBox 5"/>
          <p:cNvSpPr txBox="1"/>
          <p:nvPr/>
        </p:nvSpPr>
        <p:spPr>
          <a:xfrm>
            <a:off x="731520" y="1371600"/>
            <a:ext cx="10515600" cy="365760"/>
          </a:xfrm>
          <a:prstGeom prst="rect">
            <a:avLst/>
          </a:prstGeom>
          <a:noFill/>
        </p:spPr>
        <p:txBody>
          <a:bodyPr wrap="none">
            <a:spAutoFit/>
          </a:bodyPr>
          <a:lstStyle/>
          <a:p>
            <a:pPr>
              <a:defRPr sz="1300">
                <a:solidFill>
                  <a:srgbClr val="38BDF8"/>
                </a:solidFill>
                <a:latin typeface="Segoe UI"/>
              </a:defRPr>
            </a:pPr>
            <a:r>
              <a:t>Transformasi digital terpadu manajemen laboratorium kampus modern</a:t>
            </a:r>
          </a:p>
        </p:txBody>
      </p:sp>
      <p:sp>
        <p:nvSpPr>
          <p:cNvPr id="7" name="Rounded Rectangle 6"/>
          <p:cNvSpPr/>
          <p:nvPr/>
        </p:nvSpPr>
        <p:spPr>
          <a:xfrm>
            <a:off x="731520" y="1920240"/>
            <a:ext cx="6217920" cy="4297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5852160" cy="3931920"/>
          </a:xfrm>
          <a:prstGeom prst="rect">
            <a:avLst/>
          </a:prstGeom>
          <a:noFill/>
        </p:spPr>
        <p:txBody>
          <a:bodyPr wrap="square">
            <a:spAutoFit/>
          </a:bodyPr>
          <a:lstStyle/>
          <a:p>
            <a:pPr>
              <a:spcAft>
                <a:spcPts val="1000"/>
              </a:spcAft>
            </a:pPr>
            <a:r>
              <a:rPr b="1" sz="1200">
                <a:solidFill>
                  <a:srgbClr val="10B981"/>
                </a:solidFill>
              </a:rPr>
              <a:t>✔ Transformasi Penuh Digital
</a:t>
            </a:r>
            <a:r>
              <a:rPr sz="1050">
                <a:solidFill>
                  <a:srgbClr val="94A3B8"/>
                </a:solidFill>
              </a:rPr>
              <a:t>LabTrack berhasil menggantikan sistem formulir manual menjadi sistem terpadu akuntabel.</a:t>
            </a:r>
          </a:p>
          <a:p>
            <a:pPr>
              <a:spcAft>
                <a:spcPts val="1000"/>
              </a:spcAft>
            </a:pPr>
            <a:r>
              <a:rPr b="1" sz="1200">
                <a:solidFill>
                  <a:srgbClr val="10B981"/>
                </a:solidFill>
              </a:rPr>
              <a:t>✔ Pelacakan Fisik Nyata
</a:t>
            </a:r>
            <a:r>
              <a:rPr sz="1050">
                <a:solidFill>
                  <a:srgbClr val="94A3B8"/>
                </a:solidFill>
              </a:rPr>
              <a:t>Inovasi tabel 'alat_unit' memberikan kepastian nomor seri fisik alat yang dipinjam, mencegah sengketa kondisi barang.</a:t>
            </a:r>
          </a:p>
          <a:p>
            <a:pPr>
              <a:spcAft>
                <a:spcPts val="1000"/>
              </a:spcAft>
            </a:pPr>
            <a:r>
              <a:rPr b="1" sz="1200">
                <a:solidFill>
                  <a:srgbClr val="10B981"/>
                </a:solidFill>
              </a:rPr>
              <a:t>✔ Pemenuhan 100% Spesifikasi UTS
</a:t>
            </a:r>
            <a:r>
              <a:rPr sz="1050">
                <a:solidFill>
                  <a:srgbClr val="94A3B8"/>
                </a:solidFill>
              </a:rPr>
              <a:t>Seluruh rubrik Studi Kasus 1 (dua peran, ACC admin, denda toleransi 3 hari, biaya kerusakan, dan laporan) terpenuhi sempurna.</a:t>
            </a:r>
          </a:p>
          <a:p>
            <a:pPr>
              <a:spcAft>
                <a:spcPts val="1000"/>
              </a:spcAft>
            </a:pPr>
            <a:r>
              <a:rPr b="1" sz="1200">
                <a:solidFill>
                  <a:srgbClr val="10B981"/>
                </a:solidFill>
              </a:rPr>
              <a:t>✔ Kode Sumber Terbuka (GitHub)
</a:t>
            </a:r>
            <a:r>
              <a:rPr sz="1050">
                <a:solidFill>
                  <a:srgbClr val="94A3B8"/>
                </a:solidFill>
              </a:rPr>
              <a:t>Tersedia secara publik di: https://github.com/daffataufiq7/LabTrack</a:t>
            </a:r>
          </a:p>
        </p:txBody>
      </p:sp>
      <p:sp>
        <p:nvSpPr>
          <p:cNvPr id="9" name="Rounded Rectangle 8"/>
          <p:cNvSpPr/>
          <p:nvPr/>
        </p:nvSpPr>
        <p:spPr>
          <a:xfrm>
            <a:off x="7132320" y="1920240"/>
            <a:ext cx="4297680" cy="4297680"/>
          </a:xfrm>
          <a:prstGeom prst="round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2103120"/>
            <a:ext cx="3931920" cy="3931920"/>
          </a:xfrm>
          <a:prstGeom prst="rect">
            <a:avLst/>
          </a:prstGeom>
          <a:noFill/>
        </p:spPr>
        <p:txBody>
          <a:bodyPr wrap="square">
            <a:spAutoFit/>
          </a:bodyPr>
          <a:lstStyle/>
          <a:p>
            <a:pPr>
              <a:spcAft>
                <a:spcPts val="1200"/>
              </a:spcAft>
              <a:defRPr b="1" sz="1200">
                <a:solidFill>
                  <a:srgbClr val="38BDF8"/>
                </a:solidFill>
              </a:defRPr>
            </a:pPr>
            <a:r>
              <a:t>TIM PENGEMBANG &amp; KONTRIBUTOR</a:t>
            </a:r>
          </a:p>
          <a:p>
            <a:pPr>
              <a:spcAft>
                <a:spcPts val="600"/>
              </a:spcAft>
            </a:pPr>
            <a:r>
              <a:rPr b="1" sz="1000">
                <a:solidFill>
                  <a:srgbClr val="94A3B8"/>
                </a:solidFill>
              </a:rPr>
              <a:t>Lead Developer: </a:t>
            </a:r>
            <a:r>
              <a:rPr b="1" sz="1100">
                <a:solidFill>
                  <a:srgbClr val="F8FAFC"/>
                </a:solidFill>
              </a:rPr>
              <a:t>Daffa Taufiq</a:t>
            </a:r>
          </a:p>
          <a:p>
            <a:pPr>
              <a:spcAft>
                <a:spcPts val="600"/>
              </a:spcAft>
            </a:pPr>
            <a:r>
              <a:rPr b="1" sz="1000">
                <a:solidFill>
                  <a:srgbClr val="94A3B8"/>
                </a:solidFill>
              </a:rPr>
              <a:t>Contributor: </a:t>
            </a:r>
            <a:r>
              <a:rPr b="1" sz="1100">
                <a:solidFill>
                  <a:srgbClr val="F8FAFC"/>
                </a:solidFill>
              </a:rPr>
              <a:t>Mitchel</a:t>
            </a:r>
          </a:p>
          <a:p>
            <a:pPr>
              <a:spcAft>
                <a:spcPts val="600"/>
              </a:spcAft>
            </a:pPr>
            <a:r>
              <a:rPr b="1" sz="1000">
                <a:solidFill>
                  <a:srgbClr val="94A3B8"/>
                </a:solidFill>
              </a:rPr>
              <a:t>GitHub Repo: </a:t>
            </a:r>
            <a:r>
              <a:rPr b="1" sz="1100">
                <a:solidFill>
                  <a:srgbClr val="F8FAFC"/>
                </a:solidFill>
              </a:rPr>
              <a:t>daffataufiq7/LabTrack</a:t>
            </a:r>
          </a:p>
          <a:p>
            <a:pPr>
              <a:spcAft>
                <a:spcPts val="600"/>
              </a:spcAft>
            </a:pPr>
            <a:r>
              <a:rPr b="1" sz="1000">
                <a:solidFill>
                  <a:srgbClr val="94A3B8"/>
                </a:solidFill>
              </a:rPr>
              <a:t>Mata Kuliah: </a:t>
            </a:r>
            <a:r>
              <a:rPr b="1" sz="1100">
                <a:solidFill>
                  <a:srgbClr val="F8FAFC"/>
                </a:solidFill>
              </a:rPr>
              <a:t>Praktikum Manajemen Sistem Informasi</a:t>
            </a:r>
          </a:p>
          <a:p>
            <a:pPr>
              <a:spcBef>
                <a:spcPts val="2000"/>
              </a:spcBef>
              <a:defRPr b="1" sz="1400">
                <a:solidFill>
                  <a:srgbClr val="F59E0B"/>
                </a:solidFill>
              </a:defRPr>
            </a:pPr>
            <a:r>
              <a:t>SESI TANYA JAWAB (Q&amp;A)</a:t>
            </a:r>
          </a:p>
          <a:p>
            <a:pPr>
              <a:defRPr sz="1000">
                <a:solidFill>
                  <a:srgbClr val="94A3B8"/>
                </a:solidFill>
              </a:defRPr>
            </a:pPr>
            <a:r>
              <a:t>Terima kasih atas perhatian Bapak/Ibu Dosen dan rekan-rekan. Kami siap menjawab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